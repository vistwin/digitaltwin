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6" r:id="rId5"/>
    <p:sldId id="267" r:id="rId6"/>
    <p:sldId id="263" r:id="rId7"/>
    <p:sldId id="259" r:id="rId8"/>
    <p:sldId id="260" r:id="rId9"/>
    <p:sldId id="261" r:id="rId10"/>
    <p:sldId id="262" r:id="rId11"/>
    <p:sldId id="264" r:id="rId12"/>
    <p:sldId id="265"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1421"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shan shah" userId="2d5cc2f130519503" providerId="LiveId" clId="{FE2AAFFC-1B1F-4B5D-A0CB-D3ED1E5584EB}"/>
    <pc:docChg chg="modSld sldOrd">
      <pc:chgData name="darshan shah" userId="2d5cc2f130519503" providerId="LiveId" clId="{FE2AAFFC-1B1F-4B5D-A0CB-D3ED1E5584EB}" dt="2025-11-03T21:05:23.035" v="1"/>
      <pc:docMkLst>
        <pc:docMk/>
      </pc:docMkLst>
      <pc:sldChg chg="ord">
        <pc:chgData name="darshan shah" userId="2d5cc2f130519503" providerId="LiveId" clId="{FE2AAFFC-1B1F-4B5D-A0CB-D3ED1E5584EB}" dt="2025-11-03T21:05:23.035" v="1"/>
        <pc:sldMkLst>
          <pc:docMk/>
          <pc:sldMk cId="0" sldId="26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Triangle 18">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963930" y="1050595"/>
            <a:ext cx="6056111" cy="1618489"/>
          </a:xfrm>
        </p:spPr>
        <p:txBody>
          <a:bodyPr vert="horz" lIns="91440" tIns="45720" rIns="91440" bIns="45720" rtlCol="0" anchor="ctr">
            <a:normAutofit/>
          </a:bodyPr>
          <a:lstStyle/>
          <a:p>
            <a:pPr algn="l" defTabSz="914400">
              <a:lnSpc>
                <a:spcPct val="90000"/>
              </a:lnSpc>
            </a:pPr>
            <a:r>
              <a:rPr lang="en-US" sz="3500" kern="1200">
                <a:solidFill>
                  <a:schemeClr val="tx1"/>
                </a:solidFill>
                <a:latin typeface="+mj-lt"/>
                <a:ea typeface="+mj-ea"/>
                <a:cs typeface="+mj-cs"/>
              </a:rPr>
              <a:t>Machine Learning Model for Coupled Tank using Digital Twin</a:t>
            </a:r>
          </a:p>
        </p:txBody>
      </p:sp>
      <p:sp>
        <p:nvSpPr>
          <p:cNvPr id="3" name="Subtitle 2"/>
          <p:cNvSpPr>
            <a:spLocks noGrp="1"/>
          </p:cNvSpPr>
          <p:nvPr>
            <p:ph type="subTitle" idx="1"/>
          </p:nvPr>
        </p:nvSpPr>
        <p:spPr>
          <a:xfrm>
            <a:off x="963930" y="2969469"/>
            <a:ext cx="6056111" cy="2800395"/>
          </a:xfrm>
        </p:spPr>
        <p:txBody>
          <a:bodyPr vert="horz" lIns="91440" tIns="45720" rIns="91440" bIns="45720" rtlCol="0" anchor="t">
            <a:normAutofit/>
          </a:bodyPr>
          <a:lstStyle/>
          <a:p>
            <a:pPr indent="-228600" algn="l" defTabSz="914400">
              <a:lnSpc>
                <a:spcPct val="90000"/>
              </a:lnSpc>
              <a:buFont typeface="Arial" panose="020B0604020202020204" pitchFamily="34" charset="0"/>
              <a:buChar char="•"/>
            </a:pPr>
            <a:r>
              <a:rPr lang="en-US" sz="2100">
                <a:solidFill>
                  <a:schemeClr val="tx1"/>
                </a:solidFill>
              </a:rPr>
              <a:t>Course: ME5303 – Introduction to Digital Twins</a:t>
            </a:r>
          </a:p>
          <a:p>
            <a:pPr indent="-228600" algn="l" defTabSz="914400">
              <a:lnSpc>
                <a:spcPct val="90000"/>
              </a:lnSpc>
              <a:buFont typeface="Arial" panose="020B0604020202020204" pitchFamily="34" charset="0"/>
              <a:buChar char="•"/>
            </a:pPr>
            <a:r>
              <a:rPr lang="en-US" sz="2100">
                <a:solidFill>
                  <a:schemeClr val="tx1"/>
                </a:solidFill>
              </a:rPr>
              <a:t>Instructor: Prof. Vinod Kumar &amp; Dr. Vineeth Vijaya Kumar</a:t>
            </a:r>
          </a:p>
          <a:p>
            <a:pPr indent="-228600" algn="l" defTabSz="914400">
              <a:lnSpc>
                <a:spcPct val="90000"/>
              </a:lnSpc>
              <a:buFont typeface="Arial" panose="020B0604020202020204" pitchFamily="34" charset="0"/>
              <a:buChar char="•"/>
            </a:pPr>
            <a:r>
              <a:rPr lang="en-US" sz="2100">
                <a:solidFill>
                  <a:schemeClr val="tx1"/>
                </a:solidFill>
              </a:rPr>
              <a:t>Student: Darshan Snehal Shah</a:t>
            </a:r>
          </a:p>
          <a:p>
            <a:pPr indent="-228600" algn="l" defTabSz="914400">
              <a:lnSpc>
                <a:spcPct val="90000"/>
              </a:lnSpc>
              <a:buFont typeface="Arial" panose="020B0604020202020204" pitchFamily="34" charset="0"/>
              <a:buChar char="•"/>
            </a:pPr>
            <a:r>
              <a:rPr lang="en-US" sz="2100">
                <a:solidFill>
                  <a:schemeClr val="tx1"/>
                </a:solidFill>
              </a:rPr>
              <a:t>Semester: Fall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r>
              <a:rPr lang="en-US" sz="6300"/>
              <a:t>Introduction</a:t>
            </a:r>
          </a:p>
        </p:txBody>
      </p:sp>
      <p:sp>
        <p:nvSpPr>
          <p:cNvPr id="3" name="Content Placeholder 2"/>
          <p:cNvSpPr>
            <a:spLocks noGrp="1"/>
          </p:cNvSpPr>
          <p:nvPr>
            <p:ph idx="1"/>
          </p:nvPr>
        </p:nvSpPr>
        <p:spPr>
          <a:xfrm>
            <a:off x="963930" y="2969469"/>
            <a:ext cx="6056111" cy="2800395"/>
          </a:xfrm>
        </p:spPr>
        <p:txBody>
          <a:bodyPr anchor="t">
            <a:normAutofit/>
          </a:bodyPr>
          <a:lstStyle/>
          <a:p>
            <a:r>
              <a:rPr lang="en-US" sz="1900"/>
              <a:t>This project develops a digital twin for a coupled tank system using image-based monitoring and machine learning. The objective is to create a virtual replica that mirrors the real system behavior and predicts water levels from motor RPM data.</a:t>
            </a:r>
          </a:p>
          <a:p>
            <a:endParaRPr lang="en-US" sz="1900"/>
          </a:p>
          <a:p>
            <a:r>
              <a:rPr lang="en-US" sz="1900"/>
              <a:t>Technologies used include Python, MATLAB, and cloud-based image processing.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r>
              <a:rPr lang="en-US" sz="5800"/>
              <a:t>Problem Definition</a:t>
            </a:r>
          </a:p>
        </p:txBody>
      </p:sp>
      <p:sp>
        <p:nvSpPr>
          <p:cNvPr id="3" name="Content Placeholder 2"/>
          <p:cNvSpPr>
            <a:spLocks noGrp="1"/>
          </p:cNvSpPr>
          <p:nvPr>
            <p:ph idx="1"/>
          </p:nvPr>
        </p:nvSpPr>
        <p:spPr>
          <a:xfrm>
            <a:off x="963930" y="2969469"/>
            <a:ext cx="6056111" cy="2800395"/>
          </a:xfrm>
        </p:spPr>
        <p:txBody>
          <a:bodyPr anchor="t">
            <a:normAutofit/>
          </a:bodyPr>
          <a:lstStyle/>
          <a:p>
            <a:pPr>
              <a:lnSpc>
                <a:spcPct val="90000"/>
              </a:lnSpc>
            </a:pPr>
            <a:r>
              <a:rPr lang="en-US" sz="1900" dirty="0"/>
              <a:t>The real coupled tank system requires continuous monitoring.</a:t>
            </a:r>
          </a:p>
          <a:p>
            <a:pPr>
              <a:lnSpc>
                <a:spcPct val="90000"/>
              </a:lnSpc>
            </a:pPr>
            <a:r>
              <a:rPr lang="en-US" sz="1900" dirty="0"/>
              <a:t> Manual measurements are inefficient and error-prone.</a:t>
            </a:r>
          </a:p>
          <a:p>
            <a:pPr>
              <a:lnSpc>
                <a:spcPct val="90000"/>
              </a:lnSpc>
            </a:pPr>
            <a:r>
              <a:rPr lang="en-US" sz="1900" dirty="0"/>
              <a:t> The goal is to automate water level detection using a camera feed and establish a data-driven model to predict tank levels based on motor RPM.</a:t>
            </a:r>
          </a:p>
          <a:p>
            <a:pPr>
              <a:lnSpc>
                <a:spcPct val="90000"/>
              </a:lnSpc>
            </a:pPr>
            <a:r>
              <a:rPr lang="en-US" sz="1900" dirty="0"/>
              <a:t> Expected outcome: a trained ML model integrated with the digital twin visualization.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717970-EDEF-24D5-18F5-2765AD9FC9F7}"/>
              </a:ext>
            </a:extLst>
          </p:cNvPr>
          <p:cNvSpPr>
            <a:spLocks noGrp="1"/>
          </p:cNvSpPr>
          <p:nvPr>
            <p:ph type="title"/>
          </p:nvPr>
        </p:nvSpPr>
        <p:spPr>
          <a:xfrm>
            <a:off x="963930" y="1050595"/>
            <a:ext cx="6056111" cy="1618489"/>
          </a:xfrm>
        </p:spPr>
        <p:txBody>
          <a:bodyPr anchor="ctr">
            <a:normAutofit/>
          </a:bodyPr>
          <a:lstStyle/>
          <a:p>
            <a:r>
              <a:rPr lang="en-US" sz="5800" dirty="0"/>
              <a:t>LAST WEEK WORK	</a:t>
            </a:r>
          </a:p>
        </p:txBody>
      </p:sp>
      <p:sp>
        <p:nvSpPr>
          <p:cNvPr id="3" name="Content Placeholder 2">
            <a:extLst>
              <a:ext uri="{FF2B5EF4-FFF2-40B4-BE49-F238E27FC236}">
                <a16:creationId xmlns:a16="http://schemas.microsoft.com/office/drawing/2014/main" id="{9A7DDCB5-4B78-6A2E-7056-5725AC725832}"/>
              </a:ext>
            </a:extLst>
          </p:cNvPr>
          <p:cNvSpPr>
            <a:spLocks noGrp="1"/>
          </p:cNvSpPr>
          <p:nvPr>
            <p:ph idx="1"/>
          </p:nvPr>
        </p:nvSpPr>
        <p:spPr>
          <a:xfrm>
            <a:off x="963930" y="2969469"/>
            <a:ext cx="6056111" cy="2800395"/>
          </a:xfrm>
        </p:spPr>
        <p:txBody>
          <a:bodyPr anchor="t">
            <a:normAutofit/>
          </a:bodyPr>
          <a:lstStyle/>
          <a:p>
            <a:r>
              <a:rPr lang="en-US" sz="2100" dirty="0"/>
              <a:t>I am trying to operate the couple tank with voice to text. </a:t>
            </a:r>
          </a:p>
          <a:p>
            <a:r>
              <a:rPr lang="en-US" sz="2100" dirty="0"/>
              <a:t>Then I trying to connect the camera. With the help of code. </a:t>
            </a:r>
          </a:p>
          <a:p>
            <a:pPr marL="0" indent="0">
              <a:buNone/>
            </a:pPr>
            <a:endParaRPr lang="en-US" sz="2100" dirty="0"/>
          </a:p>
        </p:txBody>
      </p:sp>
    </p:spTree>
    <p:extLst>
      <p:ext uri="{BB962C8B-B14F-4D97-AF65-F5344CB8AC3E}">
        <p14:creationId xmlns:p14="http://schemas.microsoft.com/office/powerpoint/2010/main" val="2994044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Triangle 15">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47E24F-94FD-BD9C-E9B9-8B19EFC91155}"/>
              </a:ext>
            </a:extLst>
          </p:cNvPr>
          <p:cNvSpPr>
            <a:spLocks noGrp="1"/>
          </p:cNvSpPr>
          <p:nvPr>
            <p:ph type="title"/>
          </p:nvPr>
        </p:nvSpPr>
        <p:spPr>
          <a:xfrm>
            <a:off x="806825" y="1188637"/>
            <a:ext cx="2241175" cy="4480726"/>
          </a:xfrm>
        </p:spPr>
        <p:txBody>
          <a:bodyPr>
            <a:normAutofit/>
          </a:bodyPr>
          <a:lstStyle/>
          <a:p>
            <a:pPr algn="r"/>
            <a:r>
              <a:rPr lang="en-US" sz="5700"/>
              <a:t>Library &amp; Codes</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6905CE4-D4BC-0C4E-59CD-8F9026A1455B}"/>
              </a:ext>
            </a:extLst>
          </p:cNvPr>
          <p:cNvSpPr>
            <a:spLocks noGrp="1"/>
          </p:cNvSpPr>
          <p:nvPr>
            <p:ph idx="1"/>
          </p:nvPr>
        </p:nvSpPr>
        <p:spPr>
          <a:xfrm>
            <a:off x="3941445" y="914400"/>
            <a:ext cx="3527136" cy="5477164"/>
          </a:xfrm>
        </p:spPr>
        <p:txBody>
          <a:bodyPr anchor="ctr">
            <a:normAutofit fontScale="92500" lnSpcReduction="10000"/>
          </a:bodyPr>
          <a:lstStyle/>
          <a:p>
            <a:pPr>
              <a:lnSpc>
                <a:spcPct val="90000"/>
              </a:lnSpc>
            </a:pPr>
            <a:r>
              <a:rPr lang="en-US" sz="1000" dirty="0" err="1"/>
              <a:t>sudo</a:t>
            </a:r>
            <a:r>
              <a:rPr lang="en-US" sz="1000" dirty="0"/>
              <a:t> apt-get update</a:t>
            </a:r>
          </a:p>
          <a:p>
            <a:pPr>
              <a:lnSpc>
                <a:spcPct val="90000"/>
              </a:lnSpc>
            </a:pPr>
            <a:r>
              <a:rPr lang="en-US" sz="1000" dirty="0" err="1"/>
              <a:t>sudo</a:t>
            </a:r>
            <a:r>
              <a:rPr lang="en-US" sz="1000" dirty="0"/>
              <a:t> apt-get install python3-pyaudio</a:t>
            </a:r>
          </a:p>
          <a:p>
            <a:pPr>
              <a:lnSpc>
                <a:spcPct val="90000"/>
              </a:lnSpc>
            </a:pPr>
            <a:r>
              <a:rPr lang="en-US" sz="1000" dirty="0"/>
              <a:t>pip3 install </a:t>
            </a:r>
            <a:r>
              <a:rPr lang="en-US" sz="1000" dirty="0" err="1"/>
              <a:t>SpeechRecognition</a:t>
            </a:r>
            <a:r>
              <a:rPr lang="en-US" sz="1000" dirty="0"/>
              <a:t> </a:t>
            </a:r>
            <a:r>
              <a:rPr lang="en-US" sz="1000" dirty="0" err="1"/>
              <a:t>gpiozero</a:t>
            </a:r>
            <a:endParaRPr lang="en-US" sz="1000" dirty="0"/>
          </a:p>
          <a:p>
            <a:pPr>
              <a:lnSpc>
                <a:spcPct val="90000"/>
              </a:lnSpc>
            </a:pPr>
            <a:endParaRPr lang="en-US" sz="500" dirty="0"/>
          </a:p>
          <a:p>
            <a:pPr algn="ctr">
              <a:lnSpc>
                <a:spcPct val="90000"/>
              </a:lnSpc>
            </a:pPr>
            <a:endParaRPr lang="en-US" sz="1000" dirty="0"/>
          </a:p>
          <a:p>
            <a:pPr algn="ctr">
              <a:lnSpc>
                <a:spcPct val="90000"/>
              </a:lnSpc>
            </a:pPr>
            <a:r>
              <a:rPr lang="en-US" sz="1000" dirty="0"/>
              <a:t>import </a:t>
            </a:r>
            <a:r>
              <a:rPr lang="en-US" sz="1000" dirty="0" err="1"/>
              <a:t>speech_recognition</a:t>
            </a:r>
            <a:r>
              <a:rPr lang="en-US" sz="1000" dirty="0"/>
              <a:t> as </a:t>
            </a:r>
            <a:r>
              <a:rPr lang="en-US" sz="1000" dirty="0" err="1"/>
              <a:t>sr</a:t>
            </a:r>
            <a:endParaRPr lang="en-US" sz="1000" dirty="0"/>
          </a:p>
          <a:p>
            <a:pPr marL="0" indent="0" algn="ctr">
              <a:lnSpc>
                <a:spcPct val="90000"/>
              </a:lnSpc>
              <a:buNone/>
            </a:pPr>
            <a:r>
              <a:rPr lang="en-US" sz="1000" dirty="0"/>
              <a:t>from </a:t>
            </a:r>
            <a:r>
              <a:rPr lang="en-US" sz="1000" dirty="0" err="1"/>
              <a:t>gpiozero</a:t>
            </a:r>
            <a:r>
              <a:rPr lang="en-US" sz="1000" dirty="0"/>
              <a:t> import LED</a:t>
            </a:r>
          </a:p>
          <a:p>
            <a:pPr marL="0" indent="0" algn="ctr">
              <a:lnSpc>
                <a:spcPct val="90000"/>
              </a:lnSpc>
              <a:buNone/>
            </a:pPr>
            <a:r>
              <a:rPr lang="en-US" sz="1000" dirty="0"/>
              <a:t>import time</a:t>
            </a:r>
          </a:p>
          <a:p>
            <a:pPr algn="ctr">
              <a:lnSpc>
                <a:spcPct val="90000"/>
              </a:lnSpc>
            </a:pPr>
            <a:endParaRPr lang="en-US" sz="1000" dirty="0"/>
          </a:p>
          <a:p>
            <a:pPr marL="0" indent="0" algn="ctr">
              <a:lnSpc>
                <a:spcPct val="90000"/>
              </a:lnSpc>
              <a:buNone/>
            </a:pPr>
            <a:r>
              <a:rPr lang="en-US" sz="1000" dirty="0"/>
              <a:t># Use LED as motor control pin (replace with your motor driver input)</a:t>
            </a:r>
          </a:p>
          <a:p>
            <a:pPr marL="0" indent="0" algn="ctr">
              <a:lnSpc>
                <a:spcPct val="90000"/>
              </a:lnSpc>
              <a:buNone/>
            </a:pPr>
            <a:r>
              <a:rPr lang="en-US" sz="1000" dirty="0"/>
              <a:t>motor = LED(17)  # GPIO17 for motor ON/OFF</a:t>
            </a:r>
          </a:p>
          <a:p>
            <a:pPr marL="0" indent="0" algn="ctr">
              <a:lnSpc>
                <a:spcPct val="90000"/>
              </a:lnSpc>
              <a:buNone/>
            </a:pPr>
            <a:r>
              <a:rPr lang="en-US" sz="1000" dirty="0"/>
              <a:t>recognizer = </a:t>
            </a:r>
            <a:r>
              <a:rPr lang="en-US" sz="1000" dirty="0" err="1"/>
              <a:t>sr.Recognizer</a:t>
            </a:r>
            <a:r>
              <a:rPr lang="en-US" sz="1000" dirty="0"/>
              <a:t>()</a:t>
            </a:r>
          </a:p>
          <a:p>
            <a:pPr marL="0" indent="0" algn="ctr">
              <a:lnSpc>
                <a:spcPct val="90000"/>
              </a:lnSpc>
              <a:buNone/>
            </a:pPr>
            <a:r>
              <a:rPr lang="en-US" sz="1000" dirty="0"/>
              <a:t>mic = </a:t>
            </a:r>
            <a:r>
              <a:rPr lang="en-US" sz="1000" dirty="0" err="1"/>
              <a:t>sr.Microphone</a:t>
            </a:r>
            <a:r>
              <a:rPr lang="en-US" sz="1000" dirty="0"/>
              <a:t>()</a:t>
            </a:r>
          </a:p>
          <a:p>
            <a:pPr algn="ctr">
              <a:lnSpc>
                <a:spcPct val="90000"/>
              </a:lnSpc>
            </a:pPr>
            <a:endParaRPr lang="en-US" sz="1000" dirty="0"/>
          </a:p>
          <a:p>
            <a:pPr marL="0" indent="0" algn="ctr">
              <a:lnSpc>
                <a:spcPct val="90000"/>
              </a:lnSpc>
              <a:buNone/>
            </a:pPr>
            <a:r>
              <a:rPr lang="en-US" sz="1000" dirty="0"/>
              <a:t>print("Voice control system ready... Say 'start' or 'stop'")</a:t>
            </a:r>
          </a:p>
          <a:p>
            <a:pPr algn="ctr">
              <a:lnSpc>
                <a:spcPct val="90000"/>
              </a:lnSpc>
            </a:pPr>
            <a:endParaRPr lang="en-US" sz="1000" dirty="0"/>
          </a:p>
          <a:p>
            <a:pPr marL="0" indent="0" algn="ctr">
              <a:lnSpc>
                <a:spcPct val="90000"/>
              </a:lnSpc>
              <a:buNone/>
            </a:pPr>
            <a:r>
              <a:rPr lang="en-US" sz="1000" dirty="0"/>
              <a:t>while True:</a:t>
            </a:r>
          </a:p>
          <a:p>
            <a:pPr marL="0" indent="0" algn="ctr">
              <a:lnSpc>
                <a:spcPct val="90000"/>
              </a:lnSpc>
              <a:buNone/>
            </a:pPr>
            <a:r>
              <a:rPr lang="en-US" sz="1000" dirty="0"/>
              <a:t>    with mic as source:</a:t>
            </a:r>
          </a:p>
          <a:p>
            <a:pPr marL="0" indent="0" algn="ctr">
              <a:lnSpc>
                <a:spcPct val="90000"/>
              </a:lnSpc>
              <a:buNone/>
            </a:pPr>
            <a:r>
              <a:rPr lang="en-US" sz="1000" dirty="0"/>
              <a:t>        </a:t>
            </a:r>
            <a:r>
              <a:rPr lang="en-US" sz="1000" dirty="0" err="1"/>
              <a:t>recognizer.adjust_for_ambient_noise</a:t>
            </a:r>
            <a:r>
              <a:rPr lang="en-US" sz="1000" dirty="0"/>
              <a:t>(source)</a:t>
            </a:r>
          </a:p>
          <a:p>
            <a:pPr marL="0" indent="0" algn="ctr">
              <a:lnSpc>
                <a:spcPct val="90000"/>
              </a:lnSpc>
              <a:buNone/>
            </a:pPr>
            <a:r>
              <a:rPr lang="en-US" sz="1000" dirty="0"/>
              <a:t>        print("Listening...")</a:t>
            </a:r>
          </a:p>
          <a:p>
            <a:pPr marL="0" indent="0" algn="ctr">
              <a:lnSpc>
                <a:spcPct val="90000"/>
              </a:lnSpc>
              <a:buNone/>
            </a:pPr>
            <a:r>
              <a:rPr lang="en-US" sz="1000" dirty="0"/>
              <a:t>        audio = </a:t>
            </a:r>
            <a:r>
              <a:rPr lang="en-US" sz="1000" dirty="0" err="1"/>
              <a:t>recognizer.listen</a:t>
            </a:r>
            <a:r>
              <a:rPr lang="en-US" sz="1000" dirty="0"/>
              <a:t>(source)</a:t>
            </a:r>
          </a:p>
          <a:p>
            <a:pPr marL="0" indent="0" algn="ctr">
              <a:lnSpc>
                <a:spcPct val="90000"/>
              </a:lnSpc>
              <a:buNone/>
            </a:pPr>
            <a:endParaRPr lang="en-US" sz="1000" dirty="0"/>
          </a:p>
          <a:p>
            <a:pPr marL="0" indent="0" algn="ctr">
              <a:lnSpc>
                <a:spcPct val="90000"/>
              </a:lnSpc>
              <a:buNone/>
            </a:pPr>
            <a:r>
              <a:rPr lang="en-US" sz="1000" dirty="0"/>
              <a:t>    try:</a:t>
            </a:r>
          </a:p>
          <a:p>
            <a:pPr marL="0" indent="0" algn="ctr">
              <a:lnSpc>
                <a:spcPct val="90000"/>
              </a:lnSpc>
              <a:buNone/>
            </a:pPr>
            <a:r>
              <a:rPr lang="en-US" sz="1000" dirty="0"/>
              <a:t>        command = </a:t>
            </a:r>
            <a:r>
              <a:rPr lang="en-US" sz="1000" dirty="0" err="1"/>
              <a:t>recognizer.recognize_google</a:t>
            </a:r>
            <a:r>
              <a:rPr lang="en-US" sz="1000" dirty="0"/>
              <a:t>(audio).lower()</a:t>
            </a:r>
          </a:p>
          <a:p>
            <a:pPr marL="0" indent="0" algn="ctr">
              <a:lnSpc>
                <a:spcPct val="90000"/>
              </a:lnSpc>
              <a:buNone/>
            </a:pPr>
            <a:r>
              <a:rPr lang="en-US" sz="1000" dirty="0"/>
              <a:t>        print("You said:", command)</a:t>
            </a:r>
          </a:p>
          <a:p>
            <a:pPr marL="0" indent="0" algn="ctr">
              <a:lnSpc>
                <a:spcPct val="90000"/>
              </a:lnSpc>
              <a:buNone/>
            </a:pPr>
            <a:endParaRPr lang="en-US" sz="1000" dirty="0"/>
          </a:p>
          <a:p>
            <a:pPr marL="0" indent="0" algn="ctr">
              <a:lnSpc>
                <a:spcPct val="90000"/>
              </a:lnSpc>
              <a:buNone/>
            </a:pPr>
            <a:r>
              <a:rPr lang="en-US" sz="1000" dirty="0"/>
              <a:t>        if "start" in command:</a:t>
            </a:r>
          </a:p>
          <a:p>
            <a:pPr marL="0" indent="0" algn="ctr">
              <a:lnSpc>
                <a:spcPct val="90000"/>
              </a:lnSpc>
              <a:buNone/>
            </a:pPr>
            <a:r>
              <a:rPr lang="en-US" sz="1000" dirty="0"/>
              <a:t>            </a:t>
            </a:r>
            <a:r>
              <a:rPr lang="en-US" sz="1000" dirty="0" err="1"/>
              <a:t>motor.on</a:t>
            </a:r>
            <a:r>
              <a:rPr lang="en-US" sz="1000" dirty="0"/>
              <a:t>()</a:t>
            </a:r>
          </a:p>
          <a:p>
            <a:pPr marL="0" indent="0" algn="ctr">
              <a:lnSpc>
                <a:spcPct val="90000"/>
              </a:lnSpc>
              <a:buNone/>
            </a:pPr>
            <a:r>
              <a:rPr lang="en-US" sz="1000" dirty="0"/>
              <a:t>            print("Motor started!")</a:t>
            </a:r>
          </a:p>
          <a:p>
            <a:pPr marL="0" indent="0" algn="ctr">
              <a:lnSpc>
                <a:spcPct val="90000"/>
              </a:lnSpc>
              <a:buNone/>
            </a:pPr>
            <a:r>
              <a:rPr lang="en-US" sz="1000" dirty="0"/>
              <a:t>        </a:t>
            </a:r>
            <a:r>
              <a:rPr lang="en-US" sz="1000" dirty="0" err="1"/>
              <a:t>elif</a:t>
            </a:r>
            <a:r>
              <a:rPr lang="en-US" sz="1000" dirty="0"/>
              <a:t> "stop" in command:</a:t>
            </a:r>
          </a:p>
          <a:p>
            <a:pPr marL="0" indent="0" algn="ctr">
              <a:lnSpc>
                <a:spcPct val="90000"/>
              </a:lnSpc>
              <a:buNone/>
            </a:pPr>
            <a:r>
              <a:rPr lang="en-US" sz="1000" dirty="0"/>
              <a:t>            </a:t>
            </a:r>
            <a:r>
              <a:rPr lang="en-US" sz="1000" dirty="0" err="1"/>
              <a:t>motor.off</a:t>
            </a:r>
            <a:r>
              <a:rPr lang="en-US" sz="1000" dirty="0"/>
              <a:t>()</a:t>
            </a:r>
          </a:p>
          <a:p>
            <a:pPr marL="0" indent="0" algn="ctr">
              <a:lnSpc>
                <a:spcPct val="90000"/>
              </a:lnSpc>
              <a:buNone/>
            </a:pPr>
            <a:r>
              <a:rPr lang="en-US" sz="1000" dirty="0"/>
              <a:t>            print("Motor stopped!")</a:t>
            </a:r>
          </a:p>
          <a:p>
            <a:pPr marL="0" indent="0" algn="ctr">
              <a:lnSpc>
                <a:spcPct val="90000"/>
              </a:lnSpc>
              <a:buNone/>
            </a:pPr>
            <a:r>
              <a:rPr lang="en-US" sz="1000" dirty="0"/>
              <a:t>        else:</a:t>
            </a:r>
          </a:p>
          <a:p>
            <a:pPr marL="0" indent="0" algn="ctr">
              <a:lnSpc>
                <a:spcPct val="90000"/>
              </a:lnSpc>
              <a:buNone/>
            </a:pPr>
            <a:r>
              <a:rPr lang="en-US" sz="1000" dirty="0"/>
              <a:t>            print("Command not recognized.")</a:t>
            </a:r>
          </a:p>
          <a:p>
            <a:pPr marL="0" indent="0" algn="ctr">
              <a:lnSpc>
                <a:spcPct val="90000"/>
              </a:lnSpc>
              <a:buNone/>
            </a:pPr>
            <a:r>
              <a:rPr lang="en-US" sz="1000" dirty="0"/>
              <a:t>    except </a:t>
            </a:r>
            <a:r>
              <a:rPr lang="en-US" sz="1000" dirty="0" err="1"/>
              <a:t>sr.UnknownValueError</a:t>
            </a:r>
            <a:r>
              <a:rPr lang="en-US" sz="1000" dirty="0"/>
              <a:t>:</a:t>
            </a:r>
          </a:p>
          <a:p>
            <a:pPr marL="0" indent="0" algn="ctr">
              <a:lnSpc>
                <a:spcPct val="90000"/>
              </a:lnSpc>
              <a:buNone/>
            </a:pPr>
            <a:r>
              <a:rPr lang="en-US" sz="1000" dirty="0"/>
              <a:t>        print("Could not understand audio.")</a:t>
            </a:r>
          </a:p>
          <a:p>
            <a:pPr marL="0" indent="0" algn="ctr">
              <a:lnSpc>
                <a:spcPct val="90000"/>
              </a:lnSpc>
              <a:buNone/>
            </a:pPr>
            <a:r>
              <a:rPr lang="en-US" sz="1000" dirty="0"/>
              <a:t>    except </a:t>
            </a:r>
            <a:r>
              <a:rPr lang="en-US" sz="1000" dirty="0" err="1"/>
              <a:t>sr.RequestError</a:t>
            </a:r>
            <a:r>
              <a:rPr lang="en-US" sz="1000" dirty="0"/>
              <a:t>:</a:t>
            </a:r>
          </a:p>
          <a:p>
            <a:pPr marL="0" indent="0" algn="ctr">
              <a:lnSpc>
                <a:spcPct val="90000"/>
              </a:lnSpc>
              <a:buNone/>
            </a:pPr>
            <a:r>
              <a:rPr lang="en-US" sz="1000" dirty="0"/>
              <a:t>        print("Speech service unavailable.")</a:t>
            </a:r>
          </a:p>
          <a:p>
            <a:pPr>
              <a:lnSpc>
                <a:spcPct val="90000"/>
              </a:lnSpc>
            </a:pPr>
            <a:endParaRPr lang="en-US" sz="500" dirty="0"/>
          </a:p>
          <a:p>
            <a:pPr>
              <a:lnSpc>
                <a:spcPct val="90000"/>
              </a:lnSpc>
            </a:pPr>
            <a:endParaRPr lang="en-US" sz="500" dirty="0"/>
          </a:p>
        </p:txBody>
      </p:sp>
    </p:spTree>
    <p:extLst>
      <p:ext uri="{BB962C8B-B14F-4D97-AF65-F5344CB8AC3E}">
        <p14:creationId xmlns:p14="http://schemas.microsoft.com/office/powerpoint/2010/main" val="2658661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941445" y="1188637"/>
            <a:ext cx="4389533" cy="1597228"/>
          </a:xfrm>
        </p:spPr>
        <p:txBody>
          <a:bodyPr>
            <a:normAutofit/>
          </a:bodyPr>
          <a:lstStyle/>
          <a:p>
            <a:pPr>
              <a:lnSpc>
                <a:spcPct val="90000"/>
              </a:lnSpc>
            </a:pPr>
            <a:r>
              <a:rPr lang="en-US" sz="5200"/>
              <a:t>Results and Discussion</a:t>
            </a:r>
          </a:p>
        </p:txBody>
      </p:sp>
      <p:pic>
        <p:nvPicPr>
          <p:cNvPr id="4" name="Picture 3" descr="WhatsApp Image 2025-10-24 at 11.30.08_511df557.jpg"/>
          <p:cNvPicPr>
            <a:picLocks noChangeAspect="1"/>
          </p:cNvPicPr>
          <p:nvPr/>
        </p:nvPicPr>
        <p:blipFill>
          <a:blip r:embed="rId2"/>
          <a:stretch>
            <a:fillRect/>
          </a:stretch>
        </p:blipFill>
        <p:spPr>
          <a:xfrm>
            <a:off x="842517" y="1700588"/>
            <a:ext cx="2650489" cy="3533985"/>
          </a:xfrm>
          <a:prstGeom prst="rect">
            <a:avLst/>
          </a:prstGeom>
        </p:spPr>
      </p:pic>
      <p:sp>
        <p:nvSpPr>
          <p:cNvPr id="3" name="Content Placeholder 2"/>
          <p:cNvSpPr>
            <a:spLocks noGrp="1"/>
          </p:cNvSpPr>
          <p:nvPr>
            <p:ph idx="1"/>
          </p:nvPr>
        </p:nvSpPr>
        <p:spPr>
          <a:xfrm>
            <a:off x="3941445" y="2998278"/>
            <a:ext cx="3321177" cy="2728198"/>
          </a:xfrm>
        </p:spPr>
        <p:txBody>
          <a:bodyPr anchor="t">
            <a:normAutofit/>
          </a:bodyPr>
          <a:lstStyle/>
          <a:p>
            <a:pPr>
              <a:lnSpc>
                <a:spcPct val="90000"/>
              </a:lnSpc>
            </a:pPr>
            <a:r>
              <a:rPr lang="en-US" sz="1700" dirty="0"/>
              <a:t>Machine learning model trained using experimental data.</a:t>
            </a:r>
          </a:p>
          <a:p>
            <a:pPr>
              <a:lnSpc>
                <a:spcPct val="90000"/>
              </a:lnSpc>
            </a:pPr>
            <a:r>
              <a:rPr lang="en-US" sz="1700" dirty="0"/>
              <a:t>Water level predictions closely follow measured values.</a:t>
            </a:r>
          </a:p>
          <a:p>
            <a:pPr>
              <a:lnSpc>
                <a:spcPct val="90000"/>
              </a:lnSpc>
            </a:pPr>
            <a:r>
              <a:rPr lang="en-US" sz="1700" dirty="0"/>
              <a:t>Real-time visualization achieved through digital twin dashboard.</a:t>
            </a:r>
          </a:p>
          <a:p>
            <a:pPr>
              <a:lnSpc>
                <a:spcPct val="90000"/>
              </a:lnSpc>
            </a:pPr>
            <a:r>
              <a:rPr lang="en-US" sz="1700" dirty="0"/>
              <a:t>High accuracy in steady-state and dynamic testing.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r>
              <a:rPr lang="en-US" sz="5800"/>
              <a:t>Project Objectives</a:t>
            </a:r>
          </a:p>
        </p:txBody>
      </p:sp>
      <p:sp>
        <p:nvSpPr>
          <p:cNvPr id="3" name="Content Placeholder 2"/>
          <p:cNvSpPr>
            <a:spLocks noGrp="1"/>
          </p:cNvSpPr>
          <p:nvPr>
            <p:ph idx="1"/>
          </p:nvPr>
        </p:nvSpPr>
        <p:spPr>
          <a:xfrm>
            <a:off x="963930" y="2969469"/>
            <a:ext cx="6056111" cy="2800395"/>
          </a:xfrm>
        </p:spPr>
        <p:txBody>
          <a:bodyPr anchor="t">
            <a:normAutofit/>
          </a:bodyPr>
          <a:lstStyle/>
          <a:p>
            <a:pPr>
              <a:lnSpc>
                <a:spcPct val="90000"/>
              </a:lnSpc>
            </a:pPr>
            <a:r>
              <a:rPr lang="en-US" sz="1900" dirty="0"/>
              <a:t>Develop a physical and digital model of the coupled tank system.</a:t>
            </a:r>
          </a:p>
          <a:p>
            <a:pPr>
              <a:lnSpc>
                <a:spcPct val="90000"/>
              </a:lnSpc>
            </a:pPr>
            <a:r>
              <a:rPr lang="en-US" sz="1900" dirty="0"/>
              <a:t> Implement data collection from motor RPM and image-based water levels.</a:t>
            </a:r>
          </a:p>
          <a:p>
            <a:pPr>
              <a:lnSpc>
                <a:spcPct val="90000"/>
              </a:lnSpc>
            </a:pPr>
            <a:r>
              <a:rPr lang="en-US" sz="1900" dirty="0"/>
              <a:t> Train a machine learning model to map RPM to water level (h).</a:t>
            </a:r>
          </a:p>
          <a:p>
            <a:pPr>
              <a:lnSpc>
                <a:spcPct val="90000"/>
              </a:lnSpc>
            </a:pPr>
            <a:r>
              <a:rPr lang="en-US" sz="1900" dirty="0"/>
              <a:t> Create cloud storage and analysis workflow.</a:t>
            </a:r>
          </a:p>
          <a:p>
            <a:pPr>
              <a:lnSpc>
                <a:spcPct val="90000"/>
              </a:lnSpc>
            </a:pPr>
            <a:r>
              <a:rPr lang="en-US" sz="1900" dirty="0"/>
              <a:t> Visualize system performance using a Flask-based digital twin dashboard.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r>
              <a:rPr lang="en-US" sz="6300"/>
              <a:t>System Overview</a:t>
            </a:r>
          </a:p>
        </p:txBody>
      </p:sp>
      <p:sp>
        <p:nvSpPr>
          <p:cNvPr id="3" name="Content Placeholder 2"/>
          <p:cNvSpPr>
            <a:spLocks noGrp="1"/>
          </p:cNvSpPr>
          <p:nvPr>
            <p:ph idx="1"/>
          </p:nvPr>
        </p:nvSpPr>
        <p:spPr>
          <a:xfrm>
            <a:off x="963930" y="2969469"/>
            <a:ext cx="6056111" cy="2800395"/>
          </a:xfrm>
        </p:spPr>
        <p:txBody>
          <a:bodyPr anchor="t">
            <a:normAutofit/>
          </a:bodyPr>
          <a:lstStyle/>
          <a:p>
            <a:r>
              <a:rPr lang="en-US" sz="2100"/>
              <a:t>The coupled tank setup includes sensors, actuators, and a digital twin running on a high-end computer. The workflow integrates physical and virtual elements for real-time data analysis.</a:t>
            </a:r>
          </a:p>
          <a:p>
            <a:endParaRPr lang="en-US" sz="2100"/>
          </a:p>
          <a:p>
            <a:r>
              <a:rPr lang="en-US" sz="2100"/>
              <a:t>Block Diagram: Physical Tank → Camera Feed → Image Processing → ML Model → Cloud Dashboard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941445" y="1188637"/>
            <a:ext cx="4389533" cy="1597228"/>
          </a:xfrm>
        </p:spPr>
        <p:txBody>
          <a:bodyPr>
            <a:normAutofit/>
          </a:bodyPr>
          <a:lstStyle/>
          <a:p>
            <a:pPr>
              <a:lnSpc>
                <a:spcPct val="90000"/>
              </a:lnSpc>
            </a:pPr>
            <a:r>
              <a:rPr lang="en-US" sz="5200" dirty="0"/>
              <a:t>Essential Elements</a:t>
            </a:r>
          </a:p>
        </p:txBody>
      </p:sp>
      <p:pic>
        <p:nvPicPr>
          <p:cNvPr id="4" name="Picture 3" descr="WhatsApp Image 2025-10-24 at 11.30.08_464cd44a.jpg"/>
          <p:cNvPicPr>
            <a:picLocks noChangeAspect="1"/>
          </p:cNvPicPr>
          <p:nvPr/>
        </p:nvPicPr>
        <p:blipFill>
          <a:blip r:embed="rId2"/>
          <a:stretch>
            <a:fillRect/>
          </a:stretch>
        </p:blipFill>
        <p:spPr>
          <a:xfrm>
            <a:off x="842517" y="1700588"/>
            <a:ext cx="2650489" cy="3533985"/>
          </a:xfrm>
          <a:prstGeom prst="rect">
            <a:avLst/>
          </a:prstGeom>
        </p:spPr>
      </p:pic>
      <p:sp>
        <p:nvSpPr>
          <p:cNvPr id="3" name="Content Placeholder 2"/>
          <p:cNvSpPr>
            <a:spLocks noGrp="1"/>
          </p:cNvSpPr>
          <p:nvPr>
            <p:ph idx="1"/>
          </p:nvPr>
        </p:nvSpPr>
        <p:spPr>
          <a:xfrm>
            <a:off x="3941445" y="2998278"/>
            <a:ext cx="3321177" cy="2728198"/>
          </a:xfrm>
        </p:spPr>
        <p:txBody>
          <a:bodyPr anchor="t">
            <a:normAutofit/>
          </a:bodyPr>
          <a:lstStyle/>
          <a:p>
            <a:r>
              <a:rPr lang="en-US" sz="1600" dirty="0"/>
              <a:t>Physical Model: Coupled Tank with motor-driven flow.</a:t>
            </a:r>
          </a:p>
          <a:p>
            <a:r>
              <a:rPr lang="en-US" sz="1600" dirty="0"/>
              <a:t>Digital Model: 3D visualization and Flask dashboard.</a:t>
            </a:r>
          </a:p>
          <a:p>
            <a:r>
              <a:rPr lang="en-US" sz="1600" dirty="0"/>
              <a:t>Connectivity: Camera feed and cloud data link.</a:t>
            </a:r>
          </a:p>
          <a:p>
            <a:r>
              <a:rPr lang="en-US" sz="1600" dirty="0"/>
              <a:t>Edge Computing: Local data preprocessing and analysis.</a:t>
            </a:r>
          </a:p>
          <a:p>
            <a:r>
              <a:rPr lang="en-US" sz="1600" dirty="0"/>
              <a:t>Action Layer: Simulated or physical actuation control.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r>
              <a:rPr lang="en-US" sz="6300"/>
              <a:t>Methodology</a:t>
            </a:r>
          </a:p>
        </p:txBody>
      </p:sp>
      <p:sp>
        <p:nvSpPr>
          <p:cNvPr id="3" name="Content Placeholder 2"/>
          <p:cNvSpPr>
            <a:spLocks noGrp="1"/>
          </p:cNvSpPr>
          <p:nvPr>
            <p:ph idx="1"/>
          </p:nvPr>
        </p:nvSpPr>
        <p:spPr>
          <a:xfrm>
            <a:off x="963930" y="2969469"/>
            <a:ext cx="6056111" cy="2800395"/>
          </a:xfrm>
        </p:spPr>
        <p:txBody>
          <a:bodyPr anchor="t">
            <a:normAutofit/>
          </a:bodyPr>
          <a:lstStyle/>
          <a:p>
            <a:r>
              <a:rPr lang="en-US" sz="1900" dirty="0"/>
              <a:t>Run and understand existing MATLAB control code.</a:t>
            </a:r>
          </a:p>
          <a:p>
            <a:r>
              <a:rPr lang="en-US" sz="1900" dirty="0"/>
              <a:t>Connect and calibrate camera to capture tank images.</a:t>
            </a:r>
          </a:p>
          <a:p>
            <a:r>
              <a:rPr lang="en-US" sz="1900" dirty="0"/>
              <a:t>Extract water level information from image feed.</a:t>
            </a:r>
          </a:p>
          <a:p>
            <a:r>
              <a:rPr lang="en-US" sz="1900" dirty="0"/>
              <a:t>Generate training dataset (RPM vs water level).</a:t>
            </a:r>
          </a:p>
          <a:p>
            <a:r>
              <a:rPr lang="en-US" sz="1900" dirty="0"/>
              <a:t>Train ML model and validate accuracy.</a:t>
            </a:r>
          </a:p>
          <a:p>
            <a:r>
              <a:rPr lang="en-US" sz="1900" dirty="0"/>
              <a:t>Implement visualization using Flask web interface.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WhatsApp Image 2025-10-24 at 11.30.08_c20975a4.jpg"/>
          <p:cNvPicPr>
            <a:picLocks noChangeAspect="1"/>
          </p:cNvPicPr>
          <p:nvPr/>
        </p:nvPicPr>
        <p:blipFill>
          <a:blip r:embed="rId2"/>
          <a:srcRect l="2376" r="28027" b="1"/>
          <a:stretch>
            <a:fillRect/>
          </a:stretch>
        </p:blipFill>
        <p:spPr>
          <a:xfrm>
            <a:off x="5658495" y="323519"/>
            <a:ext cx="3242925" cy="6212748"/>
          </a:xfrm>
          <a:custGeom>
            <a:avLst/>
            <a:gdLst/>
            <a:ahLst/>
            <a:cxnLst/>
            <a:rect l="l" t="t" r="r" b="b"/>
            <a:pathLst>
              <a:path w="4323899" h="6212748">
                <a:moveTo>
                  <a:pt x="0" y="0"/>
                </a:moveTo>
                <a:lnTo>
                  <a:pt x="4323899" y="0"/>
                </a:lnTo>
                <a:lnTo>
                  <a:pt x="4323899" y="2864954"/>
                </a:lnTo>
                <a:lnTo>
                  <a:pt x="880454" y="6212748"/>
                </a:lnTo>
                <a:lnTo>
                  <a:pt x="0" y="6212748"/>
                </a:lnTo>
                <a:close/>
              </a:path>
            </a:pathLst>
          </a:custGeom>
        </p:spPr>
      </p:pic>
      <p:sp>
        <p:nvSpPr>
          <p:cNvPr id="13" name="Rectangle 12">
            <a:extLst>
              <a:ext uri="{FF2B5EF4-FFF2-40B4-BE49-F238E27FC236}">
                <a16:creationId xmlns:a16="http://schemas.microsoft.com/office/drawing/2014/main" id="{51C89C42-AF83-451A-81EA-472844755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2519" y="1188637"/>
            <a:ext cx="4438141" cy="1597228"/>
          </a:xfrm>
        </p:spPr>
        <p:txBody>
          <a:bodyPr>
            <a:normAutofit/>
          </a:bodyPr>
          <a:lstStyle/>
          <a:p>
            <a:pPr>
              <a:lnSpc>
                <a:spcPct val="90000"/>
              </a:lnSpc>
            </a:pPr>
            <a:r>
              <a:rPr lang="en-US" sz="5200"/>
              <a:t>Future Enhancements</a:t>
            </a:r>
          </a:p>
        </p:txBody>
      </p:sp>
      <p:sp>
        <p:nvSpPr>
          <p:cNvPr id="3" name="Content Placeholder 2"/>
          <p:cNvSpPr>
            <a:spLocks noGrp="1"/>
          </p:cNvSpPr>
          <p:nvPr>
            <p:ph idx="1"/>
          </p:nvPr>
        </p:nvSpPr>
        <p:spPr>
          <a:xfrm>
            <a:off x="842519" y="2998278"/>
            <a:ext cx="4438140" cy="2728198"/>
          </a:xfrm>
        </p:spPr>
        <p:txBody>
          <a:bodyPr anchor="t">
            <a:normAutofit/>
          </a:bodyPr>
          <a:lstStyle/>
          <a:p>
            <a:r>
              <a:rPr lang="en-US" sz="1700" dirty="0"/>
              <a:t>Integrate real-time control feedback.</a:t>
            </a:r>
          </a:p>
          <a:p>
            <a:r>
              <a:rPr lang="en-US" sz="1700" dirty="0"/>
              <a:t>Expand dataset for multiple operating conditions.</a:t>
            </a:r>
          </a:p>
          <a:p>
            <a:r>
              <a:rPr lang="en-US" sz="1700" dirty="0"/>
              <a:t>Implement predictive maintenance and fault detection.</a:t>
            </a:r>
          </a:p>
          <a:p>
            <a:r>
              <a:rPr lang="en-US" sz="1700" dirty="0"/>
              <a:t>Develop AR/VR visualization for immersive interaction.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r>
              <a:rPr lang="en-US" sz="6300"/>
              <a:t>Conclusion</a:t>
            </a:r>
          </a:p>
        </p:txBody>
      </p:sp>
      <p:sp>
        <p:nvSpPr>
          <p:cNvPr id="3" name="Content Placeholder 2"/>
          <p:cNvSpPr>
            <a:spLocks noGrp="1"/>
          </p:cNvSpPr>
          <p:nvPr>
            <p:ph idx="1"/>
          </p:nvPr>
        </p:nvSpPr>
        <p:spPr>
          <a:xfrm>
            <a:off x="963930" y="2969469"/>
            <a:ext cx="6056111" cy="2800395"/>
          </a:xfrm>
        </p:spPr>
        <p:txBody>
          <a:bodyPr anchor="t">
            <a:normAutofit/>
          </a:bodyPr>
          <a:lstStyle/>
          <a:p>
            <a:r>
              <a:rPr lang="en-US" sz="2100"/>
              <a:t>This project successfully demonstrates the concept of a digital twin for a coupled tank system. By combining experimental data, image processing, and machine learning, the system predicts water levels and visualizes them in real time. The work lays the foundation for future intelligent digital twin applications in fluid control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TotalTime>
  <Words>726</Words>
  <Application>Microsoft Office PowerPoint</Application>
  <PresentationFormat>On-screen Show (4:3)</PresentationFormat>
  <Paragraphs>91</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Machine Learning Model for Coupled Tank using Digital Twin</vt:lpstr>
      <vt:lpstr>Introduction</vt:lpstr>
      <vt:lpstr>Problem Definition</vt:lpstr>
      <vt:lpstr>LAST WEEK WORK </vt:lpstr>
      <vt:lpstr>Library &amp; Codes</vt:lpstr>
      <vt:lpstr>Results and Discussion</vt:lpstr>
      <vt:lpstr>Project Objectives</vt:lpstr>
      <vt:lpstr>System Overview</vt:lpstr>
      <vt:lpstr>Essential Elements</vt:lpstr>
      <vt:lpstr>Methodology</vt:lpstr>
      <vt:lpstr>Future Enhancements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darshan shah</cp:lastModifiedBy>
  <cp:revision>3</cp:revision>
  <dcterms:created xsi:type="dcterms:W3CDTF">2013-01-27T09:14:16Z</dcterms:created>
  <dcterms:modified xsi:type="dcterms:W3CDTF">2025-11-03T21:05:24Z</dcterms:modified>
  <cp:category/>
</cp:coreProperties>
</file>